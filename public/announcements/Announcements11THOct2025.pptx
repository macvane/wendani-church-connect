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wdp" ContentType="image/vnd.ms-photo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1" r:id="rId5"/>
    <p:sldId id="259" r:id="rId6"/>
    <p:sldId id="270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06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14" autoAdjust="0"/>
    <p:restoredTop sz="94580"/>
  </p:normalViewPr>
  <p:slideViewPr>
    <p:cSldViewPr snapToGrid="0">
      <p:cViewPr varScale="1">
        <p:scale>
          <a:sx n="121" d="100"/>
          <a:sy n="121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9E4C49-83DA-4252-88F3-005287591910}" type="datetimeFigureOut">
              <a:rPr lang="en-US" smtClean="0"/>
              <a:t>10/11/25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A03F3A-F4D7-41F9-AD97-5F6F463EF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920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01F00E-DFF0-3E5C-335D-7E6D2C79D1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150C211-9F14-6017-A532-0F4BD4B48B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EAA69BF-9A53-4EED-0239-8CBDE6BB1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CE72D-D053-41E4-9A55-EED6DB7C8C7F}" type="datetime1">
              <a:rPr lang="en-US" smtClean="0"/>
              <a:t>10/11/25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3F58338-DC20-8FFF-67EE-4896C3836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PAYMENT DETAILS: PAYBILL 400222, ACC NO: 441211#NARRATION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A5DF716-CC71-DB95-3C9C-3B58D5259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84FB-B183-4959-9773-ABA121BF5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273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999B37-1764-0D7A-F5FE-1F1671155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F7433A-621C-E166-74CA-1779E9C41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DEA38DF-69D5-2E97-45DD-6B34007C6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8BA73-27ED-4CB0-8BB6-627E80EA516A}" type="datetime1">
              <a:rPr lang="en-US" smtClean="0"/>
              <a:t>10/11/25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FD170E-4309-424E-6E98-845E51FC2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PAYMENT DETAILS: PAYBILL 400222, ACC NO: 441211#NARRATION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DADC2CD-A26F-C54E-FAA6-48302D3A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84FB-B183-4959-9773-ABA121BF5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22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07B0B5-84C0-1174-99D9-D5CFD6B6B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7AC914B-937D-3162-2DFF-1EEBE3B23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F8B1BF3-1107-BE53-05D4-3C0F15A92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EF9B-56E3-4217-8561-0D2A94270C64}" type="datetime1">
              <a:rPr lang="en-US" smtClean="0"/>
              <a:t>10/11/25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EA4D831-90CC-EEFC-33BD-3EB754359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PAYMENT DETAILS: PAYBILL 400222, ACC NO: 441211#NARRATION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18E4F0A-B409-FCAF-888E-29FE2EFC8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84FB-B183-4959-9773-ABA121BF5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015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6C874E-63D4-9A10-673C-F339B59E6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8FB7367-306F-0506-905A-A6B39F7E6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9C51BC1-0DC3-C175-D0BD-388AC01636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254D7EE-744D-BCDA-B89D-D7AE0140A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C444-B6B8-4553-A7C7-CEFBED5F7C4A}" type="datetime1">
              <a:rPr lang="en-US" smtClean="0"/>
              <a:t>10/11/25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B18517E-D7C1-3F5C-F4B6-736C036C8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PAYMENT DETAILS: PAYBILL 400222, ACC NO: 441211#NARRATION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A84F3BA-9D4D-C09A-01EB-C155B048C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84FB-B183-4959-9773-ABA121BF5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2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AA03DB-457F-4A6F-E54D-2871C3BB6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4F824C9-BD31-4F74-3640-C02534CE2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F794CA6-E65E-4303-267B-59697C8F6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E797B1F-ACFD-F7BE-5C1B-51C741E2A7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C0DE178-929B-2F9B-645C-1B77487B44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D3FCCEE-A02B-42EC-486A-E86475C18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F38A4-E41B-420C-A2FD-47AA824D9C1E}" type="datetime1">
              <a:rPr lang="en-US" smtClean="0"/>
              <a:t>10/11/25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1F02385-1CB1-9412-DA92-D5C3ED489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PAYMENT DETAILS: PAYBILL 400222, ACC NO: 441211#NARRATION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2F924146-1053-1892-6DE9-65D840DC7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84FB-B183-4959-9773-ABA121BF5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62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806146-C3CD-852A-64EC-A69227FC7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EBCB74E-4ACB-3751-023F-A4547BB3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01A2B-B0CD-4641-961C-ED69EEB553AC}" type="datetime1">
              <a:rPr lang="en-US" smtClean="0"/>
              <a:t>10/11/25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4BCDC52-EAED-3558-394A-8D76ADE97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PAYMENT DETAILS: PAYBILL 400222, ACC NO: 441211#NARRATION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5F77755-C2A2-A682-8DC2-3892496B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84FB-B183-4959-9773-ABA121BF5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23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8AED287-4BC2-8480-DAE7-8D6806202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64F3-75A6-4DAA-B1B2-892CEE7348E4}" type="datetime1">
              <a:rPr lang="en-US" smtClean="0"/>
              <a:t>10/11/25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A1FE261-C570-E571-51BF-2CE8CB45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PAYMENT DETAILS: PAYBILL 400222, ACC NO: 441211#NARRATION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36CD9FC-CA89-DF9E-A0F3-CD9DF2641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84FB-B183-4959-9773-ABA121BF5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661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41A5F6-8C5F-0922-74A3-CFDE2FD0C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A0932BA-A0F9-B69C-61D9-B62CB85C6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ABCF960-A141-9305-75DD-62CEECA2E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459B95A-1756-02A5-AF80-0EFACCC13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CEEA5-79AD-4E20-A018-E2A819E0D4AC}" type="datetime1">
              <a:rPr lang="en-US" smtClean="0"/>
              <a:t>10/11/25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36E3BA3-2DEA-0189-4769-A1A6EEDF6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PAYMENT DETAILS: PAYBILL 400222, ACC NO: 441211#NARRATION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6630184-A053-FF8D-A221-1D53DE77F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84FB-B183-4959-9773-ABA121BF5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724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25C26C-61F6-8BF7-7066-4F3902DE0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FF0EFF6-DB95-02A6-BBA0-370E4029FA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3F02C28-CCAF-D82D-CA1D-9801C26A55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41952A4-2118-DC95-1350-47980A6FF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83A7E-60B3-48A4-A1A5-EFA9D7240DEE}" type="datetime1">
              <a:rPr lang="en-US" smtClean="0"/>
              <a:t>10/11/25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9F1DBC0-311F-52C5-D6FA-E7323A91D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PAYMENT DETAILS: PAYBILL 400222, ACC NO: 441211#NARRATION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FA46D18-EFE7-75EA-FA0A-702B5823C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84FB-B183-4959-9773-ABA121BF5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588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5A4464-2AEE-2498-E99D-AF8E5B4BB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532181A-5E08-87CE-DAD4-8282E5A57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C885F60-B37A-8D18-F459-AB4914974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FB99-E996-4451-89F5-B3298B4838D6}" type="datetime1">
              <a:rPr lang="en-US" smtClean="0"/>
              <a:t>10/11/25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36BA0F7-31C8-45B8-9AF1-C41E102E9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PAYMENT DETAILS: PAYBILL 400222, ACC NO: 441211#NARRATION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7CDFE1E-787E-4D52-72E4-2383E6C1D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84FB-B183-4959-9773-ABA121BF5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371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704C59A-3F27-C5EF-BF84-22D818E44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4EFDC22-3EA6-960A-EA73-E6726C7BE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78CC1F4-E3EA-374E-E212-DAC3B572C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77F03-F54F-4393-B297-D49C1719CC21}" type="datetime1">
              <a:rPr lang="en-US" smtClean="0"/>
              <a:t>10/11/25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AD68A3D-CE06-ACED-3F2C-8014C67FF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PAYMENT DETAILS: PAYBILL 400222, ACC NO: 441211#NARRATION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15DDC17-2528-8045-1AC1-CE9666E59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84FB-B183-4959-9773-ABA121BF5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777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22ED46C-E0BC-83A9-2180-987540593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4E3CA76-8CF8-EA13-F7BC-DD1A7B36E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6D9371F-A7DC-D00C-9500-15B2367B27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B3C055-7594-45F6-8605-202C5ECDD3BD}" type="datetime1">
              <a:rPr lang="en-US" smtClean="0"/>
              <a:t>10/11/25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CAD9618-9C68-FBAC-E7D2-8A6BF8CFCE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PAYMENT DETAILS: PAYBILL 400222, ACC NO: 441211#NARRATION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5BF69C0-F061-D59D-E969-653EB9B5C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2784FB-B183-4959-9773-ABA121BF5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63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A8650D-9773-37F2-9A6E-D7F6C3C1D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70626" y="0"/>
            <a:ext cx="12962625" cy="7643004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101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endParaRPr lang="en-US" sz="100" dirty="0">
              <a:solidFill>
                <a:srgbClr val="0F06CA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A7535DE-28C3-60DA-4B43-7731D9B67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089674" cy="7643003"/>
          </a:xfrm>
          <a:blipFill dpi="0" rotWithShape="1">
            <a:blip r:embed="rId4">
              <a:alphaModFix amt="1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endParaRPr lang="en-US" sz="8000" b="1" dirty="0">
              <a:solidFill>
                <a:srgbClr val="0F06CA"/>
              </a:solidFill>
              <a:latin typeface="Arial Rounded MT Bold" panose="020F0704030504030204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  <a:p>
            <a:r>
              <a:rPr lang="en-US" sz="8000" b="1" dirty="0">
                <a:solidFill>
                  <a:srgbClr val="0F06CA"/>
                </a:solidFill>
                <a:latin typeface="Times New Roman" charset="0"/>
                <a:ea typeface="Times New Roman" charset="0"/>
                <a:cs typeface="Times New Roman" charset="0"/>
              </a:rPr>
              <a:t>SDA CHURCH KAHAWA WENDANI</a:t>
            </a:r>
          </a:p>
          <a:p>
            <a:endParaRPr lang="en-US" sz="1600" b="1" dirty="0">
              <a:solidFill>
                <a:srgbClr val="0F06CA"/>
              </a:solidFill>
              <a:latin typeface="Arial Rounded MT Bold" panose="020F0704030504030204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  <a:p>
            <a:r>
              <a:rPr lang="en-US" sz="8000" b="1" dirty="0">
                <a:solidFill>
                  <a:srgbClr val="0F06CA"/>
                </a:solidFill>
                <a:latin typeface="Times New Roman" charset="0"/>
                <a:ea typeface="Times New Roman" charset="0"/>
                <a:cs typeface="Times New Roman" charset="0"/>
              </a:rPr>
              <a:t>ANNOUNCEMENTS</a:t>
            </a:r>
          </a:p>
          <a:p>
            <a:endParaRPr lang="en-US" sz="4800" b="1" dirty="0">
              <a:solidFill>
                <a:srgbClr val="0F06CA"/>
              </a:solidFill>
              <a:latin typeface="Arial Rounded MT Bold" panose="020F0704030504030204" pitchFamily="34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  <a:p>
            <a:r>
              <a:rPr lang="en-US" sz="8000" b="1" i="1" u="sng" dirty="0">
                <a:solidFill>
                  <a:srgbClr val="0F06CA"/>
                </a:solidFill>
                <a:latin typeface="Times New Roman" charset="0"/>
                <a:ea typeface="Times New Roman" charset="0"/>
                <a:cs typeface="Times New Roman" charset="0"/>
              </a:rPr>
              <a:t>11</a:t>
            </a:r>
            <a:r>
              <a:rPr lang="en-US" sz="8000" b="1" i="1" u="sng" baseline="30000" dirty="0">
                <a:solidFill>
                  <a:srgbClr val="0F06CA"/>
                </a:solidFill>
                <a:latin typeface="Times New Roman" charset="0"/>
                <a:ea typeface="Times New Roman" charset="0"/>
                <a:cs typeface="Times New Roman" charset="0"/>
              </a:rPr>
              <a:t>th</a:t>
            </a:r>
            <a:r>
              <a:rPr lang="en-US" sz="8000" b="1" i="1" u="sng" dirty="0">
                <a:solidFill>
                  <a:srgbClr val="0F06CA"/>
                </a:solidFill>
                <a:latin typeface="Times New Roman" charset="0"/>
                <a:ea typeface="Times New Roman" charset="0"/>
                <a:cs typeface="Times New Roman" charset="0"/>
              </a:rPr>
              <a:t> October, 2025</a:t>
            </a:r>
          </a:p>
        </p:txBody>
      </p:sp>
    </p:spTree>
    <p:extLst>
      <p:ext uri="{BB962C8B-B14F-4D97-AF65-F5344CB8AC3E}">
        <p14:creationId xmlns:p14="http://schemas.microsoft.com/office/powerpoint/2010/main" val="1916664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1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38FF21-22A5-34A3-3594-499579A11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469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>
                <a:solidFill>
                  <a:srgbClr val="0F06CA"/>
                </a:solidFill>
              </a:rPr>
              <a:t>SABBATH FACILITATORS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8339E5-E2AA-D2FE-E633-B1708FFC6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594"/>
            <a:ext cx="10515600" cy="5040495"/>
          </a:xfrm>
          <a:blipFill>
            <a:blip r:embed="rId2">
              <a:alphaModFix amt="10000"/>
            </a:blip>
            <a:stretch>
              <a:fillRect/>
            </a:stretch>
          </a:blipFill>
        </p:spPr>
        <p:txBody>
          <a:bodyPr>
            <a:normAutofit fontScale="92500"/>
          </a:bodyPr>
          <a:lstStyle/>
          <a:p>
            <a:pPr marL="914400" indent="-914400" algn="just">
              <a:buFont typeface="+mj-lt"/>
              <a:buAutoNum type="alphaLcPeriod"/>
            </a:pPr>
            <a:r>
              <a:rPr lang="en-US" sz="4800" dirty="0">
                <a:solidFill>
                  <a:srgbClr val="0F06CA"/>
                </a:solidFill>
              </a:rPr>
              <a:t>This Sabbath’s worship is led by the </a:t>
            </a:r>
            <a:r>
              <a:rPr lang="en-US" sz="4800" b="1" dirty="0">
                <a:solidFill>
                  <a:srgbClr val="0F06CA"/>
                </a:solidFill>
              </a:rPr>
              <a:t>Adventist Men’s Ministry (AMM) </a:t>
            </a:r>
            <a:r>
              <a:rPr lang="en-US" sz="4800" dirty="0">
                <a:solidFill>
                  <a:srgbClr val="0F06CA"/>
                </a:solidFill>
              </a:rPr>
              <a:t>led by Eld. Evans Matoke and team. </a:t>
            </a:r>
          </a:p>
          <a:p>
            <a:pPr marL="914400" indent="-914400" algn="just">
              <a:buFont typeface="+mj-lt"/>
              <a:buAutoNum type="alphaLcPeriod"/>
            </a:pPr>
            <a:r>
              <a:rPr lang="en-US" sz="4800" dirty="0">
                <a:solidFill>
                  <a:srgbClr val="0F06CA"/>
                </a:solidFill>
              </a:rPr>
              <a:t>The Lead Chorister is </a:t>
            </a:r>
            <a:r>
              <a:rPr lang="en-US" sz="4800" b="1" dirty="0">
                <a:solidFill>
                  <a:srgbClr val="00B050"/>
                </a:solidFill>
              </a:rPr>
              <a:t>Mrs. Sarah Abaya</a:t>
            </a:r>
          </a:p>
          <a:p>
            <a:pPr marL="914400" indent="-914400" algn="just">
              <a:buFont typeface="+mj-lt"/>
              <a:buAutoNum type="alphaLcPeriod"/>
            </a:pPr>
            <a:r>
              <a:rPr lang="en-US" sz="4800" dirty="0">
                <a:solidFill>
                  <a:srgbClr val="0F06CA"/>
                </a:solidFill>
              </a:rPr>
              <a:t>We also have </a:t>
            </a:r>
            <a:r>
              <a:rPr lang="en-US" sz="4800" b="1" dirty="0">
                <a:solidFill>
                  <a:srgbClr val="0F06CA"/>
                </a:solidFill>
              </a:rPr>
              <a:t>Pastors</a:t>
            </a:r>
            <a:r>
              <a:rPr lang="en-US" sz="4800" dirty="0">
                <a:solidFill>
                  <a:srgbClr val="0F06CA"/>
                </a:solidFill>
              </a:rPr>
              <a:t>’ </a:t>
            </a:r>
            <a:r>
              <a:rPr lang="en-US" sz="4800" b="1" dirty="0">
                <a:solidFill>
                  <a:srgbClr val="0F06CA"/>
                </a:solidFill>
              </a:rPr>
              <a:t>Appreciation</a:t>
            </a:r>
            <a:r>
              <a:rPr lang="en-US" sz="4800" dirty="0">
                <a:solidFill>
                  <a:srgbClr val="0F06CA"/>
                </a:solidFill>
              </a:rPr>
              <a:t> </a:t>
            </a:r>
            <a:r>
              <a:rPr lang="en-US" sz="4800" b="1" dirty="0">
                <a:solidFill>
                  <a:srgbClr val="0F06CA"/>
                </a:solidFill>
              </a:rPr>
              <a:t>Sabbath</a:t>
            </a:r>
            <a:r>
              <a:rPr lang="en-US" sz="4800" dirty="0">
                <a:solidFill>
                  <a:srgbClr val="0F06CA"/>
                </a:solidFill>
              </a:rPr>
              <a:t> </a:t>
            </a:r>
            <a:r>
              <a:rPr lang="en-US" sz="4800" b="1" dirty="0">
                <a:solidFill>
                  <a:srgbClr val="0F06CA"/>
                </a:solidFill>
              </a:rPr>
              <a:t>today</a:t>
            </a:r>
            <a:r>
              <a:rPr lang="en-US" sz="4800" dirty="0">
                <a:solidFill>
                  <a:srgbClr val="0F06CA"/>
                </a:solidFill>
              </a:rPr>
              <a:t>. Let’s remember all our pastors and gospel ministers in prayers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CC7B4F7-667E-0141-744B-A687F90B3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r>
              <a:rPr lang="en-US" sz="1400" b="1" dirty="0">
                <a:solidFill>
                  <a:srgbClr val="FF0000"/>
                </a:solidFill>
              </a:rPr>
              <a:t>PAYMENT DETAILS: PAYBILL 400222, ACC NO: 441211#NARRATION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09688FC-A0C6-0CCB-F6E9-D5B3A0EF8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84FB-B183-4959-9773-ABA121BF585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461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1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FFB87B-C1C1-4B7B-AD0C-C0AD5B96F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6000" b="1" dirty="0">
                <a:solidFill>
                  <a:srgbClr val="0F06CA"/>
                </a:solidFill>
              </a:rPr>
              <a:t>1. DEPARTMENTAL COUNCILS AND MEETINGS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08FD9C1-A1C8-C184-729A-B18730C33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sz="4800" dirty="0">
                <a:solidFill>
                  <a:srgbClr val="0F06CA"/>
                </a:solidFill>
              </a:rPr>
              <a:t>The following Councils are scheduled to meet today in the evening;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en-US" sz="4800" b="1" dirty="0">
                <a:solidFill>
                  <a:srgbClr val="00B050"/>
                </a:solidFill>
              </a:rPr>
              <a:t>Camp Meeting Committee </a:t>
            </a:r>
            <a:r>
              <a:rPr lang="en-US" sz="4800" dirty="0">
                <a:solidFill>
                  <a:srgbClr val="0F06CA"/>
                </a:solidFill>
              </a:rPr>
              <a:t>as from 4.00 pm in the Upper room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en-US" sz="4800" b="1" dirty="0">
                <a:solidFill>
                  <a:srgbClr val="00B050"/>
                </a:solidFill>
              </a:rPr>
              <a:t>AYS Council </a:t>
            </a:r>
            <a:r>
              <a:rPr lang="en-US" sz="4800" dirty="0">
                <a:solidFill>
                  <a:srgbClr val="0F06CA"/>
                </a:solidFill>
              </a:rPr>
              <a:t>today at 4 pm at the parking yard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en-US" sz="4800" b="1" dirty="0" err="1">
                <a:solidFill>
                  <a:srgbClr val="00B050"/>
                </a:solidFill>
              </a:rPr>
              <a:t>Masterguides</a:t>
            </a:r>
            <a:r>
              <a:rPr lang="en-US" sz="4800" dirty="0">
                <a:solidFill>
                  <a:srgbClr val="0F06CA"/>
                </a:solidFill>
              </a:rPr>
              <a:t> as from 4.30 pm at the parking </a:t>
            </a:r>
            <a:r>
              <a:rPr lang="en-US" sz="4800" dirty="0" smtClean="0">
                <a:solidFill>
                  <a:srgbClr val="0F06CA"/>
                </a:solidFill>
              </a:rPr>
              <a:t>yard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en-US" sz="4800" b="1" dirty="0" smtClean="0">
                <a:solidFill>
                  <a:srgbClr val="00B050"/>
                </a:solidFill>
              </a:rPr>
              <a:t>Church</a:t>
            </a:r>
            <a:r>
              <a:rPr lang="en-US" sz="4800" dirty="0" smtClean="0">
                <a:solidFill>
                  <a:srgbClr val="00B050"/>
                </a:solidFill>
              </a:rPr>
              <a:t> </a:t>
            </a:r>
            <a:r>
              <a:rPr lang="en-US" sz="4800" b="1" dirty="0" smtClean="0">
                <a:solidFill>
                  <a:srgbClr val="00B050"/>
                </a:solidFill>
              </a:rPr>
              <a:t>choir</a:t>
            </a:r>
            <a:r>
              <a:rPr lang="en-US" sz="4800" dirty="0" smtClean="0">
                <a:solidFill>
                  <a:srgbClr val="00B050"/>
                </a:solidFill>
              </a:rPr>
              <a:t> </a:t>
            </a:r>
            <a:r>
              <a:rPr lang="en-US" sz="4800" dirty="0" smtClean="0">
                <a:solidFill>
                  <a:srgbClr val="0F06CA"/>
                </a:solidFill>
              </a:rPr>
              <a:t>council at 4:30 pm</a:t>
            </a:r>
            <a:endParaRPr lang="en-US" sz="4800" dirty="0">
              <a:solidFill>
                <a:srgbClr val="0F06CA"/>
              </a:solidFill>
            </a:endParaRPr>
          </a:p>
          <a:p>
            <a:pPr marL="514350" indent="-514350" algn="just">
              <a:buFont typeface="+mj-lt"/>
              <a:buAutoNum type="alphaLcPeriod"/>
            </a:pPr>
            <a:r>
              <a:rPr lang="en-US" sz="4800" b="1" dirty="0" smtClean="0">
                <a:solidFill>
                  <a:srgbClr val="00B050"/>
                </a:solidFill>
              </a:rPr>
              <a:t>Adventurers</a:t>
            </a:r>
            <a:r>
              <a:rPr lang="en-US" sz="4800" dirty="0" smtClean="0">
                <a:solidFill>
                  <a:srgbClr val="00B050"/>
                </a:solidFill>
              </a:rPr>
              <a:t> </a:t>
            </a:r>
            <a:r>
              <a:rPr lang="en-US" sz="4800" dirty="0" smtClean="0">
                <a:solidFill>
                  <a:srgbClr val="0F06CA"/>
                </a:solidFill>
              </a:rPr>
              <a:t>council at 4pm.</a:t>
            </a:r>
            <a:endParaRPr lang="en-US" sz="4800" dirty="0">
              <a:solidFill>
                <a:srgbClr val="0F06CA"/>
              </a:solidFill>
            </a:endParaRPr>
          </a:p>
          <a:p>
            <a:pPr marL="514350" indent="-514350" algn="just">
              <a:buFont typeface="+mj-lt"/>
              <a:buAutoNum type="alphaLcPeriod"/>
            </a:pPr>
            <a:endParaRPr lang="en-US" sz="4800" dirty="0">
              <a:solidFill>
                <a:srgbClr val="0F06CA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CC42C1B-C51D-5166-0BD6-0FECE57E2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r>
              <a:rPr lang="en-US" sz="1800" b="1" dirty="0">
                <a:solidFill>
                  <a:srgbClr val="FF0000"/>
                </a:solidFill>
              </a:rPr>
              <a:t>PAYMENT DETAILS: PAYBILL 400222, ACC NO: 441211#NARRATION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B179169-88DC-5BE8-C100-F0F0BE1AA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84FB-B183-4959-9773-ABA121BF585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82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1E4B0A-393A-238D-93CA-34581DFA9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5400" b="1" dirty="0">
                <a:solidFill>
                  <a:srgbClr val="0F06CA"/>
                </a:solidFill>
              </a:rPr>
              <a:t>2. AMBASSADORS’ AUDIO 4 LAUNCH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0FB09AE-541D-8D57-CDF0-5740939CC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 algn="just">
              <a:buFont typeface="+mj-lt"/>
              <a:buAutoNum type="alphaLcPeriod"/>
            </a:pPr>
            <a:r>
              <a:rPr lang="en-US" sz="4000" dirty="0">
                <a:solidFill>
                  <a:srgbClr val="0F06CA"/>
                </a:solidFill>
              </a:rPr>
              <a:t>Our Ambassadors take the </a:t>
            </a:r>
            <a:r>
              <a:rPr lang="en-US" sz="4000" dirty="0" err="1">
                <a:solidFill>
                  <a:srgbClr val="0F06CA"/>
                </a:solidFill>
              </a:rPr>
              <a:t>honour</a:t>
            </a:r>
            <a:r>
              <a:rPr lang="en-US" sz="4000" dirty="0">
                <a:solidFill>
                  <a:srgbClr val="0F06CA"/>
                </a:solidFill>
              </a:rPr>
              <a:t> of inviting the whole church to their </a:t>
            </a:r>
            <a:r>
              <a:rPr lang="en-US" sz="4000" b="1" dirty="0">
                <a:solidFill>
                  <a:srgbClr val="00B050"/>
                </a:solidFill>
              </a:rPr>
              <a:t>Audio 4 Launch tomorrow </a:t>
            </a:r>
            <a:r>
              <a:rPr lang="en-US" sz="4000" b="1" dirty="0">
                <a:solidFill>
                  <a:srgbClr val="FF0000"/>
                </a:solidFill>
              </a:rPr>
              <a:t>Sunday 12</a:t>
            </a:r>
            <a:r>
              <a:rPr lang="en-US" sz="4000" b="1" baseline="30000" dirty="0">
                <a:solidFill>
                  <a:srgbClr val="FF0000"/>
                </a:solidFill>
              </a:rPr>
              <a:t>th</a:t>
            </a:r>
            <a:r>
              <a:rPr lang="en-US" sz="4000" b="1" dirty="0">
                <a:solidFill>
                  <a:srgbClr val="FF0000"/>
                </a:solidFill>
              </a:rPr>
              <a:t> October, 2025</a:t>
            </a:r>
            <a:r>
              <a:rPr lang="en-US" sz="4000" dirty="0">
                <a:solidFill>
                  <a:srgbClr val="0F06CA"/>
                </a:solidFill>
              </a:rPr>
              <a:t> in our church as from 10 am. </a:t>
            </a:r>
          </a:p>
          <a:p>
            <a:pPr marL="742950" indent="-742950" algn="just">
              <a:buFont typeface="+mj-lt"/>
              <a:buAutoNum type="alphaLcPeriod"/>
            </a:pPr>
            <a:r>
              <a:rPr lang="en-US" sz="4000" dirty="0">
                <a:solidFill>
                  <a:srgbClr val="0F06CA"/>
                </a:solidFill>
              </a:rPr>
              <a:t>All are invited. </a:t>
            </a:r>
          </a:p>
          <a:p>
            <a:pPr marL="742950" indent="-742950" algn="just">
              <a:buFont typeface="+mj-lt"/>
              <a:buAutoNum type="alphaLcPeriod"/>
            </a:pPr>
            <a:r>
              <a:rPr lang="en-US" sz="4000" dirty="0">
                <a:solidFill>
                  <a:srgbClr val="0F06CA"/>
                </a:solidFill>
              </a:rPr>
              <a:t>Lets come and support our ambassadors. Feel invited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473F462-25D9-CF71-CE17-6F062AA10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10515599" cy="365125"/>
          </a:xfrm>
        </p:spPr>
        <p:txBody>
          <a:bodyPr/>
          <a:lstStyle/>
          <a:p>
            <a:r>
              <a:rPr lang="en-US" sz="1800" b="1" dirty="0">
                <a:solidFill>
                  <a:srgbClr val="FF0000"/>
                </a:solidFill>
              </a:rPr>
              <a:t>PAYMENT DETAILS: PAYBILL 400222, ACC NO: 441211#NARRATION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25D6F06-F5A3-95F8-8016-58E44620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84FB-B183-4959-9773-ABA121BF585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51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3EE164-2EF1-4668-746F-8EADE138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32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>
                <a:solidFill>
                  <a:srgbClr val="0F06CA"/>
                </a:solidFill>
              </a:rPr>
              <a:t>3. PRAYER NEEDS FOR THE CHURCH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E32B782-A60B-C1EA-C0FC-D07E505DB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5208"/>
            <a:ext cx="10515600" cy="514865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12800" dirty="0">
                <a:solidFill>
                  <a:srgbClr val="0F06CA"/>
                </a:solidFill>
              </a:rPr>
              <a:t>The following members have been affected and call for our prayers and support;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12800" b="1" dirty="0">
                <a:solidFill>
                  <a:srgbClr val="00B050"/>
                </a:solidFill>
              </a:rPr>
              <a:t>Eld. Daniel Ombati’s family </a:t>
            </a:r>
            <a:r>
              <a:rPr lang="en-US" sz="12800" dirty="0">
                <a:solidFill>
                  <a:srgbClr val="0F06CA"/>
                </a:solidFill>
              </a:rPr>
              <a:t>– Mother in law Sick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12800" b="1" dirty="0">
                <a:solidFill>
                  <a:srgbClr val="00B050"/>
                </a:solidFill>
              </a:rPr>
              <a:t>Ruth Odoyo’s family </a:t>
            </a:r>
            <a:r>
              <a:rPr lang="en-US" sz="12800" dirty="0">
                <a:solidFill>
                  <a:srgbClr val="0F06CA"/>
                </a:solidFill>
              </a:rPr>
              <a:t>– Had a sick daughter admitted at KNH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12800" b="1" dirty="0">
                <a:solidFill>
                  <a:srgbClr val="00B050"/>
                </a:solidFill>
              </a:rPr>
              <a:t>Eld. </a:t>
            </a:r>
            <a:r>
              <a:rPr lang="en-US" sz="12800" b="1" dirty="0" err="1">
                <a:solidFill>
                  <a:srgbClr val="00B050"/>
                </a:solidFill>
              </a:rPr>
              <a:t>Dismus</a:t>
            </a:r>
            <a:r>
              <a:rPr lang="en-US" sz="12800" b="1" dirty="0">
                <a:solidFill>
                  <a:srgbClr val="00B050"/>
                </a:solidFill>
              </a:rPr>
              <a:t> </a:t>
            </a:r>
            <a:r>
              <a:rPr lang="en-US" sz="12800" b="1" dirty="0" err="1">
                <a:solidFill>
                  <a:srgbClr val="00B050"/>
                </a:solidFill>
              </a:rPr>
              <a:t>Nduko’s</a:t>
            </a:r>
            <a:r>
              <a:rPr lang="en-US" sz="12800" b="1" dirty="0">
                <a:solidFill>
                  <a:srgbClr val="00B050"/>
                </a:solidFill>
              </a:rPr>
              <a:t> family </a:t>
            </a:r>
            <a:r>
              <a:rPr lang="en-US" sz="12800" dirty="0">
                <a:solidFill>
                  <a:srgbClr val="0F06CA"/>
                </a:solidFill>
              </a:rPr>
              <a:t>– Had their son Jesse sick and admitted at Nairobi Regional Hospital (NRH), Kahawa Barracks</a:t>
            </a:r>
          </a:p>
          <a:p>
            <a:pPr marL="514350" indent="-514350">
              <a:buFont typeface="+mj-lt"/>
              <a:buAutoNum type="alphaLcPeriod"/>
            </a:pPr>
            <a:r>
              <a:rPr lang="en-US" sz="12800" b="1" dirty="0">
                <a:solidFill>
                  <a:srgbClr val="00B050"/>
                </a:solidFill>
              </a:rPr>
              <a:t>Winnie </a:t>
            </a:r>
            <a:r>
              <a:rPr lang="en-US" sz="12800" dirty="0">
                <a:solidFill>
                  <a:srgbClr val="0F06CA"/>
                </a:solidFill>
              </a:rPr>
              <a:t>– Sick and admitted at NRH, Kahawa Barracks</a:t>
            </a:r>
          </a:p>
          <a:p>
            <a:pPr marL="0" indent="0">
              <a:buNone/>
            </a:pPr>
            <a:endParaRPr lang="en-US" sz="12800" dirty="0">
              <a:solidFill>
                <a:srgbClr val="0F06CA"/>
              </a:solidFill>
            </a:endParaRPr>
          </a:p>
          <a:p>
            <a:pPr marL="0" indent="0" algn="ctr">
              <a:buNone/>
            </a:pPr>
            <a:r>
              <a:rPr lang="en-US" sz="11200" b="1" i="1" dirty="0">
                <a:solidFill>
                  <a:srgbClr val="FF0000"/>
                </a:solidFill>
              </a:rPr>
              <a:t>Let’s remember to lift them up in prayers in our family alters</a:t>
            </a:r>
          </a:p>
          <a:p>
            <a:pPr marL="0" indent="0">
              <a:buNone/>
            </a:pPr>
            <a:endParaRPr lang="en-US" sz="128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53E3AB1-3EB8-38D4-1A32-44B71CC7D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</p:spPr>
        <p:txBody>
          <a:bodyPr/>
          <a:lstStyle/>
          <a:p>
            <a:r>
              <a:rPr lang="en-US" sz="1800" b="1" dirty="0">
                <a:solidFill>
                  <a:srgbClr val="FF0000"/>
                </a:solidFill>
              </a:rPr>
              <a:t>PAYMENT DETAILS: PAYBILL 400222, ACC NO: 441211#NARRATION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1305530-E724-8F6D-B6C8-8DD9FD0F2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84FB-B183-4959-9773-ABA121BF585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348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2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DA4F5C-9D24-6A11-0C92-2392EB2B5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806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0F06CA"/>
                </a:solidFill>
              </a:rPr>
              <a:t>4. NOTICE OF BEREAVEMENT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3E84639-7D75-4871-E385-E85DBFBCB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8430"/>
            <a:ext cx="10515600" cy="5078533"/>
          </a:xfrm>
          <a:blipFill>
            <a:blip r:embed="rId2">
              <a:alphaModFix amt="20000"/>
            </a:blip>
            <a:stretch>
              <a:fillRect/>
            </a:stretch>
          </a:blipFill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4800" dirty="0">
                <a:solidFill>
                  <a:srgbClr val="0F06CA"/>
                </a:solidFill>
              </a:rPr>
              <a:t>We are sorry to announce the death of </a:t>
            </a:r>
            <a:r>
              <a:rPr lang="en-US" sz="4800" b="1" dirty="0">
                <a:solidFill>
                  <a:srgbClr val="00B050"/>
                </a:solidFill>
              </a:rPr>
              <a:t>mzee Francis Manyara, </a:t>
            </a:r>
            <a:r>
              <a:rPr lang="en-US" sz="4800" dirty="0">
                <a:solidFill>
                  <a:srgbClr val="0F06CA"/>
                </a:solidFill>
              </a:rPr>
              <a:t>Father to our CL Callen Akama which occurred on 09</a:t>
            </a:r>
            <a:r>
              <a:rPr lang="en-US" sz="4800" baseline="30000" dirty="0">
                <a:solidFill>
                  <a:srgbClr val="0F06CA"/>
                </a:solidFill>
              </a:rPr>
              <a:t>th</a:t>
            </a:r>
            <a:r>
              <a:rPr lang="en-US" sz="4800" dirty="0">
                <a:solidFill>
                  <a:srgbClr val="0F06CA"/>
                </a:solidFill>
              </a:rPr>
              <a:t> October, 2025 at Annex Hospital, Nakuru </a:t>
            </a:r>
            <a:r>
              <a:rPr lang="en-US" sz="4800" b="1" dirty="0">
                <a:solidFill>
                  <a:srgbClr val="00B050"/>
                </a:solidFill>
              </a:rPr>
              <a:t>Further details will be shared</a:t>
            </a:r>
          </a:p>
          <a:p>
            <a:pPr marL="0" indent="0" algn="just">
              <a:buNone/>
            </a:pPr>
            <a:endParaRPr lang="en-US" sz="2000" dirty="0">
              <a:solidFill>
                <a:srgbClr val="0F06CA"/>
              </a:solidFill>
            </a:endParaRPr>
          </a:p>
          <a:p>
            <a:pPr marL="0" indent="0" algn="just">
              <a:buNone/>
            </a:pPr>
            <a:r>
              <a:rPr lang="en-US" sz="4800" dirty="0">
                <a:solidFill>
                  <a:srgbClr val="0F06CA"/>
                </a:solidFill>
              </a:rPr>
              <a:t>Let’s keep the family in prayers at such a trying time. Shalom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A6F6F25-70A0-35E1-412F-E7A898676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10101943" cy="365125"/>
          </a:xfrm>
        </p:spPr>
        <p:txBody>
          <a:bodyPr/>
          <a:lstStyle/>
          <a:p>
            <a:r>
              <a:rPr lang="en-US" sz="1800" b="1" dirty="0">
                <a:solidFill>
                  <a:srgbClr val="FF0000"/>
                </a:solidFill>
              </a:rPr>
              <a:t>PAYMENT DETAILS: PAYBILL 400222, ACC NO: 441211#NARRATION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DB52679-8865-DBD5-B96A-B3873D1F0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84FB-B183-4959-9773-ABA121BF585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362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C3213E-2C52-613D-29D4-8F23B341D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881"/>
            <a:ext cx="10964091" cy="1058090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solidFill>
                  <a:srgbClr val="0F06CA"/>
                </a:solidFill>
              </a:rPr>
              <a:t>5. MID WEEK SERVICE AND FRIDAY VESPERS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92EB167-E324-9892-A090-2E123E12B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343"/>
            <a:ext cx="10964090" cy="5296988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lphaLcPeriod"/>
            </a:pPr>
            <a:r>
              <a:rPr lang="en-US" sz="5400" dirty="0">
                <a:solidFill>
                  <a:srgbClr val="0F06CA"/>
                </a:solidFill>
              </a:rPr>
              <a:t>This week </a:t>
            </a:r>
            <a:r>
              <a:rPr lang="en-US" sz="5400" b="1" dirty="0">
                <a:solidFill>
                  <a:srgbClr val="0F06CA"/>
                </a:solidFill>
              </a:rPr>
              <a:t>Mid week service on </a:t>
            </a:r>
            <a:r>
              <a:rPr lang="en-US" sz="5400" b="1" dirty="0">
                <a:solidFill>
                  <a:srgbClr val="00B050"/>
                </a:solidFill>
              </a:rPr>
              <a:t>Wednesday</a:t>
            </a:r>
            <a:r>
              <a:rPr lang="en-US" sz="5400" dirty="0">
                <a:solidFill>
                  <a:srgbClr val="0F06CA"/>
                </a:solidFill>
              </a:rPr>
              <a:t> will be led by </a:t>
            </a:r>
            <a:r>
              <a:rPr lang="en-US" sz="5400" b="1" dirty="0">
                <a:solidFill>
                  <a:srgbClr val="00B050"/>
                </a:solidFill>
              </a:rPr>
              <a:t>Juliet Kerubo</a:t>
            </a:r>
            <a:r>
              <a:rPr lang="en-US" sz="5400" dirty="0">
                <a:solidFill>
                  <a:srgbClr val="0F06CA"/>
                </a:solidFill>
              </a:rPr>
              <a:t> while </a:t>
            </a:r>
            <a:r>
              <a:rPr lang="en-US" sz="5400" b="1" dirty="0">
                <a:solidFill>
                  <a:srgbClr val="00B050"/>
                </a:solidFill>
              </a:rPr>
              <a:t>Friday </a:t>
            </a:r>
            <a:r>
              <a:rPr lang="en-US" sz="5400" b="1" dirty="0">
                <a:solidFill>
                  <a:srgbClr val="0F06CA"/>
                </a:solidFill>
              </a:rPr>
              <a:t>vespers</a:t>
            </a:r>
            <a:r>
              <a:rPr lang="en-US" sz="5400" b="1" dirty="0">
                <a:solidFill>
                  <a:srgbClr val="00B050"/>
                </a:solidFill>
              </a:rPr>
              <a:t> </a:t>
            </a:r>
            <a:r>
              <a:rPr lang="en-US" sz="5400" b="1" dirty="0">
                <a:solidFill>
                  <a:srgbClr val="0F06CA"/>
                </a:solidFill>
              </a:rPr>
              <a:t>service</a:t>
            </a:r>
            <a:r>
              <a:rPr lang="en-US" sz="5400" dirty="0">
                <a:solidFill>
                  <a:srgbClr val="0F06CA"/>
                </a:solidFill>
              </a:rPr>
              <a:t> will be led by </a:t>
            </a:r>
            <a:r>
              <a:rPr lang="en-US" sz="5400" b="1" dirty="0">
                <a:solidFill>
                  <a:srgbClr val="00B050"/>
                </a:solidFill>
              </a:rPr>
              <a:t>Amos Chacha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en-US" sz="5400" dirty="0">
                <a:solidFill>
                  <a:srgbClr val="0F06CA"/>
                </a:solidFill>
              </a:rPr>
              <a:t>Church service begins at 5.30 pm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en-US" sz="5400" dirty="0">
                <a:solidFill>
                  <a:srgbClr val="0F06CA"/>
                </a:solidFill>
              </a:rPr>
              <a:t>All are invited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179E1DF-BAE5-AD03-13AF-9C5CFBDFA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10696304" cy="365125"/>
          </a:xfrm>
        </p:spPr>
        <p:txBody>
          <a:bodyPr/>
          <a:lstStyle/>
          <a:p>
            <a:r>
              <a:rPr lang="en-US" sz="1800" b="1" dirty="0">
                <a:solidFill>
                  <a:srgbClr val="FF0000"/>
                </a:solidFill>
              </a:rPr>
              <a:t>PAYMENT DETAILS: PAYBILL 400222, ACC NO: 441211#NARRATION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DD401A8-6FB8-A129-5C33-382F1CAF9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84FB-B183-4959-9773-ABA121BF585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186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2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048106-237B-09CA-DFFF-40D0B6565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905309" cy="99994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0F06CA"/>
                </a:solidFill>
              </a:rPr>
              <a:t>6. ELDER ON DUTY FOR THE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970340C-205C-697A-EB02-16939661A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6000" dirty="0">
                <a:solidFill>
                  <a:srgbClr val="0F06CA"/>
                </a:solidFill>
              </a:rPr>
              <a:t>Our elder on duty for the entire week and ending on the sabbath of 18</a:t>
            </a:r>
            <a:r>
              <a:rPr lang="en-US" sz="6000" baseline="30000" dirty="0">
                <a:solidFill>
                  <a:srgbClr val="0F06CA"/>
                </a:solidFill>
              </a:rPr>
              <a:t>th</a:t>
            </a:r>
            <a:r>
              <a:rPr lang="en-US" sz="6000" dirty="0">
                <a:solidFill>
                  <a:srgbClr val="0F06CA"/>
                </a:solidFill>
              </a:rPr>
              <a:t> October, 2025 will be </a:t>
            </a:r>
            <a:r>
              <a:rPr lang="en-US" sz="6000" b="1" dirty="0">
                <a:solidFill>
                  <a:srgbClr val="00B050"/>
                </a:solidFill>
              </a:rPr>
              <a:t>CL Hellen </a:t>
            </a:r>
            <a:r>
              <a:rPr lang="en-US" sz="6000" b="1" dirty="0" err="1">
                <a:solidFill>
                  <a:srgbClr val="00B050"/>
                </a:solidFill>
              </a:rPr>
              <a:t>Wandollah</a:t>
            </a:r>
            <a:r>
              <a:rPr lang="en-US" sz="6000" dirty="0">
                <a:solidFill>
                  <a:srgbClr val="0F06CA"/>
                </a:solidFill>
              </a:rPr>
              <a:t>. Let’s work with her as the spirit leads. Her contact is </a:t>
            </a:r>
            <a:r>
              <a:rPr lang="en-US" sz="6000" b="1" dirty="0">
                <a:solidFill>
                  <a:srgbClr val="00B050"/>
                </a:solidFill>
              </a:rPr>
              <a:t>0725 765 987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76639-A32D-6CAE-18ED-609493229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4359" y="6356350"/>
            <a:ext cx="10705011" cy="365125"/>
          </a:xfrm>
        </p:spPr>
        <p:txBody>
          <a:bodyPr/>
          <a:lstStyle/>
          <a:p>
            <a:r>
              <a:rPr lang="en-US" sz="1800" b="1" dirty="0">
                <a:solidFill>
                  <a:srgbClr val="FF0000"/>
                </a:solidFill>
              </a:rPr>
              <a:t>PAYMENT DETAILS: PAYBILL 400222, ACC NO: 441211#NARRATION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422D62F-494E-0474-771A-0D1EA2E34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84FB-B183-4959-9773-ABA121BF585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74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2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ABBCAB-FFFB-EEF1-39CC-05A7B12D8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F06CA"/>
                </a:solidFill>
              </a:rPr>
              <a:t>7. UPCOMING CLUB EVENTS FOR PFs &amp; ADVs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08A9E2-A617-AE4A-3317-2CF984176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5"/>
            <a:ext cx="10515600" cy="4919436"/>
          </a:xfrm>
        </p:spPr>
        <p:txBody>
          <a:bodyPr>
            <a:normAutofit fontScale="92500" lnSpcReduction="20000"/>
          </a:bodyPr>
          <a:lstStyle/>
          <a:p>
            <a:pPr marL="514350" indent="-514350" algn="just">
              <a:buFont typeface="+mj-lt"/>
              <a:buAutoNum type="alphaLcPeriod"/>
            </a:pPr>
            <a:r>
              <a:rPr lang="en-US" sz="3600" b="1" dirty="0">
                <a:solidFill>
                  <a:srgbClr val="00B050"/>
                </a:solidFill>
              </a:rPr>
              <a:t>ADVENTURERS’ FAMILY CAMP OUT</a:t>
            </a:r>
            <a:r>
              <a:rPr lang="en-US" sz="3600" dirty="0">
                <a:solidFill>
                  <a:srgbClr val="0F06CA"/>
                </a:solidFill>
              </a:rPr>
              <a:t> AT </a:t>
            </a:r>
            <a:r>
              <a:rPr lang="en-US" sz="3600" b="1" dirty="0">
                <a:solidFill>
                  <a:srgbClr val="00B050"/>
                </a:solidFill>
              </a:rPr>
              <a:t>KAMITI HOSTEL GROUNDS</a:t>
            </a:r>
            <a:r>
              <a:rPr lang="en-US" sz="3600" dirty="0">
                <a:solidFill>
                  <a:srgbClr val="0F06CA"/>
                </a:solidFill>
              </a:rPr>
              <a:t> FROM </a:t>
            </a:r>
            <a:r>
              <a:rPr lang="en-US" sz="3600" b="1" dirty="0">
                <a:solidFill>
                  <a:srgbClr val="00B050"/>
                </a:solidFill>
              </a:rPr>
              <a:t>11</a:t>
            </a:r>
            <a:r>
              <a:rPr lang="en-US" sz="3600" b="1" baseline="30000" dirty="0">
                <a:solidFill>
                  <a:srgbClr val="00B050"/>
                </a:solidFill>
              </a:rPr>
              <a:t>TH</a:t>
            </a:r>
            <a:r>
              <a:rPr lang="en-US" sz="3600" b="1" dirty="0">
                <a:solidFill>
                  <a:srgbClr val="00B050"/>
                </a:solidFill>
              </a:rPr>
              <a:t> -16</a:t>
            </a:r>
            <a:r>
              <a:rPr lang="en-US" sz="3600" b="1" baseline="30000" dirty="0">
                <a:solidFill>
                  <a:srgbClr val="00B050"/>
                </a:solidFill>
              </a:rPr>
              <a:t>TH</a:t>
            </a:r>
            <a:r>
              <a:rPr lang="en-US" sz="3600" b="1" dirty="0">
                <a:solidFill>
                  <a:srgbClr val="00B050"/>
                </a:solidFill>
              </a:rPr>
              <a:t> NOVEMBER, </a:t>
            </a:r>
            <a:r>
              <a:rPr lang="en-US" sz="3600" b="1" dirty="0" smtClean="0">
                <a:solidFill>
                  <a:srgbClr val="00B050"/>
                </a:solidFill>
              </a:rPr>
              <a:t>2025. </a:t>
            </a:r>
            <a:r>
              <a:rPr lang="en-US" sz="3600" b="1" dirty="0" smtClean="0">
                <a:solidFill>
                  <a:srgbClr val="FF0000"/>
                </a:solidFill>
              </a:rPr>
              <a:t>Registration closing by 14</a:t>
            </a:r>
            <a:r>
              <a:rPr lang="en-US" sz="3600" b="1" baseline="30000" dirty="0" smtClean="0">
                <a:solidFill>
                  <a:srgbClr val="FF0000"/>
                </a:solidFill>
              </a:rPr>
              <a:t>th</a:t>
            </a:r>
            <a:r>
              <a:rPr lang="en-US" sz="3600" b="1" dirty="0" smtClean="0">
                <a:solidFill>
                  <a:srgbClr val="FF0000"/>
                </a:solidFill>
              </a:rPr>
              <a:t> Oct</a:t>
            </a:r>
            <a:endParaRPr lang="en-US" sz="3600" b="1" dirty="0">
              <a:solidFill>
                <a:srgbClr val="FF0000"/>
              </a:solidFill>
            </a:endParaRPr>
          </a:p>
          <a:p>
            <a:pPr marL="514350" indent="-514350" algn="just">
              <a:buFont typeface="+mj-lt"/>
              <a:buAutoNum type="alphaLcPeriod"/>
            </a:pPr>
            <a:r>
              <a:rPr lang="en-US" sz="3600" b="1" dirty="0">
                <a:solidFill>
                  <a:srgbClr val="00B050"/>
                </a:solidFill>
              </a:rPr>
              <a:t>ANNUAL PATHFINDER FAIR </a:t>
            </a:r>
            <a:r>
              <a:rPr lang="en-US" sz="3600" dirty="0">
                <a:solidFill>
                  <a:srgbClr val="0F06CA"/>
                </a:solidFill>
              </a:rPr>
              <a:t>ON </a:t>
            </a:r>
            <a:r>
              <a:rPr lang="en-US" sz="3600" b="1" dirty="0">
                <a:solidFill>
                  <a:srgbClr val="00B050"/>
                </a:solidFill>
              </a:rPr>
              <a:t>23</a:t>
            </a:r>
            <a:r>
              <a:rPr lang="en-US" sz="3600" b="1" baseline="30000" dirty="0">
                <a:solidFill>
                  <a:srgbClr val="00B050"/>
                </a:solidFill>
              </a:rPr>
              <a:t>RD</a:t>
            </a:r>
            <a:r>
              <a:rPr lang="en-US" sz="3600" b="1" dirty="0">
                <a:solidFill>
                  <a:srgbClr val="00B050"/>
                </a:solidFill>
              </a:rPr>
              <a:t> NOVEMBER 2025 </a:t>
            </a:r>
            <a:r>
              <a:rPr lang="en-US" sz="3600" dirty="0">
                <a:solidFill>
                  <a:srgbClr val="0F06CA"/>
                </a:solidFill>
              </a:rPr>
              <a:t>AT </a:t>
            </a:r>
            <a:r>
              <a:rPr lang="en-US" sz="3600" b="1" dirty="0">
                <a:solidFill>
                  <a:srgbClr val="00B050"/>
                </a:solidFill>
              </a:rPr>
              <a:t>RIVERSIDE BURUBURU</a:t>
            </a:r>
          </a:p>
          <a:p>
            <a:pPr marL="1028700" lvl="1" indent="-571500" algn="just">
              <a:buFont typeface="+mj-lt"/>
              <a:buAutoNum type="romanLcPeriod"/>
            </a:pPr>
            <a:r>
              <a:rPr lang="en-US" sz="3200" dirty="0">
                <a:solidFill>
                  <a:srgbClr val="FF0000"/>
                </a:solidFill>
              </a:rPr>
              <a:t>Registration for each Participant is KES 250/- payable by 16</a:t>
            </a:r>
            <a:r>
              <a:rPr lang="en-US" sz="3200" baseline="30000" dirty="0">
                <a:solidFill>
                  <a:srgbClr val="FF0000"/>
                </a:solidFill>
              </a:rPr>
              <a:t>th</a:t>
            </a:r>
            <a:r>
              <a:rPr lang="en-US" sz="3200" dirty="0">
                <a:solidFill>
                  <a:srgbClr val="FF0000"/>
                </a:solidFill>
              </a:rPr>
              <a:t> November, 2025</a:t>
            </a:r>
          </a:p>
          <a:p>
            <a:pPr marL="514350" indent="-514350" algn="just">
              <a:buFont typeface="+mj-lt"/>
              <a:buAutoNum type="alphaLcPeriod"/>
            </a:pPr>
            <a:r>
              <a:rPr lang="en-US" sz="3600" b="1" dirty="0">
                <a:solidFill>
                  <a:srgbClr val="00B050"/>
                </a:solidFill>
              </a:rPr>
              <a:t>PATHFINDER CAMPOUT </a:t>
            </a:r>
            <a:r>
              <a:rPr lang="en-US" sz="3600" dirty="0">
                <a:solidFill>
                  <a:srgbClr val="0F06CA"/>
                </a:solidFill>
              </a:rPr>
              <a:t>IN </a:t>
            </a:r>
            <a:r>
              <a:rPr lang="en-US" sz="3600" b="1" dirty="0">
                <a:solidFill>
                  <a:srgbClr val="00B050"/>
                </a:solidFill>
              </a:rPr>
              <a:t>NYAHURURU ADVENTIST PRIMARY SCHOOL</a:t>
            </a:r>
            <a:r>
              <a:rPr lang="en-US" sz="3600" dirty="0">
                <a:solidFill>
                  <a:srgbClr val="0F06CA"/>
                </a:solidFill>
              </a:rPr>
              <a:t> FROM </a:t>
            </a:r>
            <a:r>
              <a:rPr lang="en-US" sz="3600" b="1" dirty="0">
                <a:solidFill>
                  <a:srgbClr val="00B050"/>
                </a:solidFill>
              </a:rPr>
              <a:t>9</a:t>
            </a:r>
            <a:r>
              <a:rPr lang="en-US" sz="3600" b="1" baseline="30000" dirty="0">
                <a:solidFill>
                  <a:srgbClr val="00B050"/>
                </a:solidFill>
              </a:rPr>
              <a:t>TH</a:t>
            </a:r>
            <a:r>
              <a:rPr lang="en-US" sz="3600" b="1" dirty="0">
                <a:solidFill>
                  <a:srgbClr val="00B050"/>
                </a:solidFill>
              </a:rPr>
              <a:t> – 14</a:t>
            </a:r>
            <a:r>
              <a:rPr lang="en-US" sz="3600" b="1" baseline="30000" dirty="0">
                <a:solidFill>
                  <a:srgbClr val="00B050"/>
                </a:solidFill>
              </a:rPr>
              <a:t>TH</a:t>
            </a:r>
            <a:r>
              <a:rPr lang="en-US" sz="3600" b="1" dirty="0">
                <a:solidFill>
                  <a:srgbClr val="00B050"/>
                </a:solidFill>
              </a:rPr>
              <a:t> DECEMBER 2025</a:t>
            </a:r>
            <a:r>
              <a:rPr lang="en-US" sz="3600" dirty="0">
                <a:solidFill>
                  <a:srgbClr val="0F06CA"/>
                </a:solidFill>
              </a:rPr>
              <a:t>. </a:t>
            </a:r>
          </a:p>
          <a:p>
            <a:pPr marL="1028700" lvl="1" indent="-571500" algn="just">
              <a:buFont typeface="+mj-lt"/>
              <a:buAutoNum type="romanLcPeriod"/>
            </a:pPr>
            <a:r>
              <a:rPr lang="en-US" sz="3200" dirty="0">
                <a:solidFill>
                  <a:srgbClr val="FF0000"/>
                </a:solidFill>
              </a:rPr>
              <a:t>Registration for each participant  is KES 1,300/- payable by 1</a:t>
            </a:r>
            <a:r>
              <a:rPr lang="en-US" sz="3200" baseline="30000" dirty="0">
                <a:solidFill>
                  <a:srgbClr val="FF0000"/>
                </a:solidFill>
              </a:rPr>
              <a:t>st</a:t>
            </a:r>
            <a:r>
              <a:rPr lang="en-US" sz="3200" dirty="0">
                <a:solidFill>
                  <a:srgbClr val="FF0000"/>
                </a:solidFill>
              </a:rPr>
              <a:t> December,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31E8A52-E74F-D3F2-A062-AA1D0811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6356350"/>
            <a:ext cx="10515599" cy="365125"/>
          </a:xfrm>
        </p:spPr>
        <p:txBody>
          <a:bodyPr/>
          <a:lstStyle/>
          <a:p>
            <a:r>
              <a:rPr lang="en-US" sz="1800" b="1" dirty="0">
                <a:solidFill>
                  <a:srgbClr val="FF0000"/>
                </a:solidFill>
              </a:rPr>
              <a:t>PAYMENT DETAILS: PAYBILL 400222, ACC NO: 441211#NARRATION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8DC2865-8480-E26D-F09B-4E439CFC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84FB-B183-4959-9773-ABA121BF585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266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2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B8D41A8-CF12-9EB8-A8A0-25116074BB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4806" y="1122363"/>
            <a:ext cx="10567851" cy="3247163"/>
          </a:xfrm>
        </p:spPr>
        <p:txBody>
          <a:bodyPr>
            <a:normAutofit/>
          </a:bodyPr>
          <a:lstStyle/>
          <a:p>
            <a:r>
              <a:rPr lang="en-US" sz="8000" b="1" dirty="0">
                <a:solidFill>
                  <a:srgbClr val="0F06CA"/>
                </a:solidFill>
              </a:rPr>
              <a:t>DISTRICT ANNOUNCEMENTS</a:t>
            </a:r>
          </a:p>
        </p:txBody>
      </p:sp>
    </p:spTree>
    <p:extLst>
      <p:ext uri="{BB962C8B-B14F-4D97-AF65-F5344CB8AC3E}">
        <p14:creationId xmlns:p14="http://schemas.microsoft.com/office/powerpoint/2010/main" val="960808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7E6A954-766C-35A5-3DB5-4DF95EC67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09269" cy="7289074"/>
          </a:xfrm>
          <a:blipFill>
            <a:blip r:embed="rId2">
              <a:alphaModFix amt="2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4400" b="1" dirty="0">
                <a:solidFill>
                  <a:srgbClr val="0F06CA"/>
                </a:solidFill>
              </a:rPr>
              <a:t>1. PASTOR’S GREETINGS</a:t>
            </a:r>
            <a:endParaRPr lang="en-US" sz="4400" dirty="0">
              <a:solidFill>
                <a:srgbClr val="0F06CA"/>
              </a:solidFill>
            </a:endParaRPr>
          </a:p>
          <a:p>
            <a:r>
              <a:rPr lang="en-US" sz="4400" dirty="0">
                <a:solidFill>
                  <a:srgbClr val="0F06CA"/>
                </a:solidFill>
              </a:rPr>
              <a:t>Receive greetings from our Pastor, he is worshipping at SDA Church Kahawa </a:t>
            </a:r>
            <a:r>
              <a:rPr lang="en-US" sz="4400" dirty="0" err="1">
                <a:solidFill>
                  <a:srgbClr val="0F06CA"/>
                </a:solidFill>
              </a:rPr>
              <a:t>Wendani</a:t>
            </a:r>
            <a:r>
              <a:rPr lang="en-US" sz="4400" dirty="0">
                <a:solidFill>
                  <a:srgbClr val="0F06CA"/>
                </a:solidFill>
              </a:rPr>
              <a:t> today. </a:t>
            </a:r>
            <a:endParaRPr lang="en-US" dirty="0">
              <a:solidFill>
                <a:srgbClr val="0F06CA"/>
              </a:solidFill>
            </a:endParaRPr>
          </a:p>
          <a:p>
            <a:pPr marL="0" lvl="0" indent="0">
              <a:buNone/>
            </a:pPr>
            <a:r>
              <a:rPr lang="en-US" sz="4400" b="1" dirty="0">
                <a:solidFill>
                  <a:srgbClr val="0F06CA"/>
                </a:solidFill>
              </a:rPr>
              <a:t>2. ASAM RETREAT</a:t>
            </a:r>
            <a:endParaRPr lang="en-US" sz="4400" dirty="0">
              <a:solidFill>
                <a:srgbClr val="0F06CA"/>
              </a:solidFill>
            </a:endParaRPr>
          </a:p>
          <a:p>
            <a:r>
              <a:rPr lang="en-US" sz="4400" dirty="0">
                <a:solidFill>
                  <a:srgbClr val="0F06CA"/>
                </a:solidFill>
              </a:rPr>
              <a:t>This will take place from </a:t>
            </a:r>
            <a:r>
              <a:rPr lang="en-US" sz="4400" b="1" dirty="0">
                <a:solidFill>
                  <a:srgbClr val="00B050"/>
                </a:solidFill>
              </a:rPr>
              <a:t>17</a:t>
            </a:r>
            <a:r>
              <a:rPr lang="en-US" sz="4400" b="1" baseline="30000" dirty="0">
                <a:solidFill>
                  <a:srgbClr val="00B050"/>
                </a:solidFill>
              </a:rPr>
              <a:t>th</a:t>
            </a:r>
            <a:r>
              <a:rPr lang="en-US" sz="4400" b="1" dirty="0">
                <a:solidFill>
                  <a:srgbClr val="00B050"/>
                </a:solidFill>
              </a:rPr>
              <a:t> – 20</a:t>
            </a:r>
            <a:r>
              <a:rPr lang="en-US" sz="4400" b="1" baseline="30000" dirty="0">
                <a:solidFill>
                  <a:srgbClr val="00B050"/>
                </a:solidFill>
              </a:rPr>
              <a:t>th</a:t>
            </a:r>
            <a:r>
              <a:rPr lang="en-US" sz="4400" b="1" dirty="0">
                <a:solidFill>
                  <a:srgbClr val="00B050"/>
                </a:solidFill>
              </a:rPr>
              <a:t> October, 2025</a:t>
            </a:r>
            <a:r>
              <a:rPr lang="en-US" sz="4400" b="1" dirty="0">
                <a:solidFill>
                  <a:srgbClr val="0F06CA"/>
                </a:solidFill>
              </a:rPr>
              <a:t> </a:t>
            </a:r>
            <a:r>
              <a:rPr lang="en-US" sz="4400" dirty="0">
                <a:solidFill>
                  <a:srgbClr val="0F06CA"/>
                </a:solidFill>
              </a:rPr>
              <a:t>at </a:t>
            </a:r>
            <a:r>
              <a:rPr lang="en-US" sz="4400" b="1" dirty="0" err="1">
                <a:solidFill>
                  <a:srgbClr val="00B050"/>
                </a:solidFill>
              </a:rPr>
              <a:t>Kikambala</a:t>
            </a:r>
            <a:r>
              <a:rPr lang="en-US" sz="4400" b="1" dirty="0">
                <a:solidFill>
                  <a:srgbClr val="00B050"/>
                </a:solidFill>
              </a:rPr>
              <a:t> hotel in Kilifi County</a:t>
            </a:r>
            <a:r>
              <a:rPr lang="en-US" sz="4400" dirty="0">
                <a:solidFill>
                  <a:srgbClr val="0F06CA"/>
                </a:solidFill>
              </a:rPr>
              <a:t>. All ASAM intending to participate to prepare to register with </a:t>
            </a:r>
            <a:r>
              <a:rPr lang="en-US" sz="4400" b="1" dirty="0">
                <a:solidFill>
                  <a:srgbClr val="0F06CA"/>
                </a:solidFill>
              </a:rPr>
              <a:t>KES 13,950/-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D81A05F-14E0-3C04-530F-6A2768F8D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521" y="6356350"/>
            <a:ext cx="10668000" cy="365125"/>
          </a:xfrm>
        </p:spPr>
        <p:txBody>
          <a:bodyPr/>
          <a:lstStyle/>
          <a:p>
            <a:r>
              <a:rPr lang="en-US" sz="1800" b="1" dirty="0">
                <a:solidFill>
                  <a:srgbClr val="FF0000"/>
                </a:solidFill>
              </a:rPr>
              <a:t>PAYMENT DETAILS: PAYBILL 400222, ACC NO: 441211#NARRATION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D380861-BEF5-C74D-1561-AEF5B55A0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84FB-B183-4959-9773-ABA121BF585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42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7793EC-0541-46D6-AE35-E7E5B80D9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83" y="195943"/>
            <a:ext cx="12070080" cy="6230983"/>
          </a:xfrm>
          <a:blipFill>
            <a:blip r:embed="rId2">
              <a:alphaModFix amt="20000"/>
            </a:blip>
            <a:stretch>
              <a:fillRect/>
            </a:stretch>
          </a:blipFill>
        </p:spPr>
        <p:txBody>
          <a:bodyPr>
            <a:normAutofit fontScale="92500" lnSpcReduction="20000"/>
          </a:bodyPr>
          <a:lstStyle/>
          <a:p>
            <a:pPr marL="0" lvl="0" indent="0" algn="just">
              <a:buNone/>
            </a:pPr>
            <a:r>
              <a:rPr lang="en-US" sz="4000" b="1" dirty="0">
                <a:solidFill>
                  <a:srgbClr val="0F06CA"/>
                </a:solidFill>
              </a:rPr>
              <a:t>3. ENF ANNUAL MUSIC FELLOWSHIP FAIR</a:t>
            </a:r>
            <a:endParaRPr lang="en-US" sz="4000" dirty="0">
              <a:solidFill>
                <a:srgbClr val="0F06CA"/>
              </a:solidFill>
            </a:endParaRPr>
          </a:p>
          <a:p>
            <a:pPr algn="just"/>
            <a:r>
              <a:rPr lang="en-US" sz="4000" dirty="0">
                <a:solidFill>
                  <a:srgbClr val="0F06CA"/>
                </a:solidFill>
              </a:rPr>
              <a:t>The annual music fellowship fair is set to take place on </a:t>
            </a:r>
            <a:r>
              <a:rPr lang="en-US" sz="4000" b="1" dirty="0">
                <a:solidFill>
                  <a:srgbClr val="00B050"/>
                </a:solidFill>
              </a:rPr>
              <a:t>18</a:t>
            </a:r>
            <a:r>
              <a:rPr lang="en-US" sz="4000" b="1" baseline="30000" dirty="0">
                <a:solidFill>
                  <a:srgbClr val="00B050"/>
                </a:solidFill>
              </a:rPr>
              <a:t>th</a:t>
            </a:r>
            <a:r>
              <a:rPr lang="en-US" sz="4000" b="1" dirty="0">
                <a:solidFill>
                  <a:srgbClr val="00B050"/>
                </a:solidFill>
              </a:rPr>
              <a:t> and 19</a:t>
            </a:r>
            <a:r>
              <a:rPr lang="en-US" sz="4000" b="1" baseline="30000" dirty="0">
                <a:solidFill>
                  <a:srgbClr val="00B050"/>
                </a:solidFill>
              </a:rPr>
              <a:t>th</a:t>
            </a:r>
            <a:r>
              <a:rPr lang="en-US" sz="4000" b="1" dirty="0">
                <a:solidFill>
                  <a:srgbClr val="00B050"/>
                </a:solidFill>
              </a:rPr>
              <a:t> October</a:t>
            </a:r>
            <a:r>
              <a:rPr lang="en-US" sz="4000" dirty="0">
                <a:solidFill>
                  <a:srgbClr val="0F06CA"/>
                </a:solidFill>
              </a:rPr>
              <a:t> at </a:t>
            </a:r>
            <a:r>
              <a:rPr lang="en-US" sz="4000" b="1" dirty="0" err="1">
                <a:solidFill>
                  <a:srgbClr val="00B050"/>
                </a:solidFill>
              </a:rPr>
              <a:t>Mutitu</a:t>
            </a:r>
            <a:r>
              <a:rPr lang="en-US" sz="4000" b="1" dirty="0">
                <a:solidFill>
                  <a:srgbClr val="00B050"/>
                </a:solidFill>
              </a:rPr>
              <a:t> SDA Church, </a:t>
            </a:r>
            <a:r>
              <a:rPr lang="en-US" sz="4000" b="1" dirty="0" err="1">
                <a:solidFill>
                  <a:srgbClr val="00B050"/>
                </a:solidFill>
              </a:rPr>
              <a:t>Mbooni</a:t>
            </a:r>
            <a:r>
              <a:rPr lang="en-US" sz="4000" b="1" dirty="0">
                <a:solidFill>
                  <a:srgbClr val="00B050"/>
                </a:solidFill>
              </a:rPr>
              <a:t> Station</a:t>
            </a:r>
            <a:r>
              <a:rPr lang="en-US" sz="4000" dirty="0">
                <a:solidFill>
                  <a:srgbClr val="0F06CA"/>
                </a:solidFill>
              </a:rPr>
              <a:t>. Participating choirs are required to present 3No items, Set Piece NZK 103 – </a:t>
            </a:r>
            <a:r>
              <a:rPr lang="en-US" sz="4000" dirty="0" err="1">
                <a:solidFill>
                  <a:srgbClr val="0F06CA"/>
                </a:solidFill>
              </a:rPr>
              <a:t>Njooni</a:t>
            </a:r>
            <a:r>
              <a:rPr lang="en-US" sz="4000" dirty="0">
                <a:solidFill>
                  <a:srgbClr val="0F06CA"/>
                </a:solidFill>
              </a:rPr>
              <a:t> </a:t>
            </a:r>
            <a:r>
              <a:rPr lang="en-US" sz="4000" dirty="0" err="1">
                <a:solidFill>
                  <a:srgbClr val="0F06CA"/>
                </a:solidFill>
              </a:rPr>
              <a:t>kwangu</a:t>
            </a:r>
            <a:r>
              <a:rPr lang="en-US" sz="4000" dirty="0">
                <a:solidFill>
                  <a:srgbClr val="0F06CA"/>
                </a:solidFill>
              </a:rPr>
              <a:t>, Own Composition and Own Choice. </a:t>
            </a:r>
            <a:r>
              <a:rPr lang="en-US" sz="4000" b="1" dirty="0">
                <a:solidFill>
                  <a:srgbClr val="00B050"/>
                </a:solidFill>
              </a:rPr>
              <a:t>Registration for the Music fair is KES 2,500/-</a:t>
            </a:r>
            <a:r>
              <a:rPr lang="en-US" sz="4000" dirty="0">
                <a:solidFill>
                  <a:srgbClr val="0F06CA"/>
                </a:solidFill>
              </a:rPr>
              <a:t> payable to Station Music leaders and the deadline is </a:t>
            </a:r>
            <a:r>
              <a:rPr lang="en-US" sz="4000" b="1" dirty="0">
                <a:solidFill>
                  <a:srgbClr val="00B050"/>
                </a:solidFill>
              </a:rPr>
              <a:t>30</a:t>
            </a:r>
            <a:r>
              <a:rPr lang="en-US" sz="4000" b="1" baseline="30000" dirty="0">
                <a:solidFill>
                  <a:srgbClr val="00B050"/>
                </a:solidFill>
              </a:rPr>
              <a:t>th</a:t>
            </a:r>
            <a:r>
              <a:rPr lang="en-US" sz="4000" b="1" dirty="0">
                <a:solidFill>
                  <a:srgbClr val="00B050"/>
                </a:solidFill>
              </a:rPr>
              <a:t> September, 2025</a:t>
            </a:r>
            <a:r>
              <a:rPr lang="en-US" sz="4000" dirty="0">
                <a:solidFill>
                  <a:srgbClr val="0F06CA"/>
                </a:solidFill>
              </a:rPr>
              <a:t>. </a:t>
            </a:r>
          </a:p>
          <a:p>
            <a:pPr marL="0" indent="0" algn="just">
              <a:buNone/>
            </a:pPr>
            <a:endParaRPr lang="en-US" sz="3900" dirty="0">
              <a:solidFill>
                <a:srgbClr val="0F06CA"/>
              </a:solidFill>
            </a:endParaRPr>
          </a:p>
          <a:p>
            <a:pPr marL="0" lvl="0" indent="0" algn="just">
              <a:buNone/>
            </a:pPr>
            <a:r>
              <a:rPr lang="en-US" sz="4000" b="1" dirty="0">
                <a:solidFill>
                  <a:srgbClr val="0F06CA"/>
                </a:solidFill>
              </a:rPr>
              <a:t>4. 2</a:t>
            </a:r>
            <a:r>
              <a:rPr lang="en-US" sz="4000" b="1" baseline="30000" dirty="0">
                <a:solidFill>
                  <a:srgbClr val="0F06CA"/>
                </a:solidFill>
              </a:rPr>
              <a:t>ND</a:t>
            </a:r>
            <a:r>
              <a:rPr lang="en-US" sz="4000" b="1" dirty="0">
                <a:solidFill>
                  <a:srgbClr val="0F06CA"/>
                </a:solidFill>
              </a:rPr>
              <a:t>  ENF QUINQUINNIAL MEETING</a:t>
            </a:r>
            <a:endParaRPr lang="en-US" sz="4000" dirty="0">
              <a:solidFill>
                <a:srgbClr val="0F06CA"/>
              </a:solidFill>
            </a:endParaRPr>
          </a:p>
          <a:p>
            <a:pPr algn="just"/>
            <a:r>
              <a:rPr lang="en-US" sz="4000" dirty="0">
                <a:solidFill>
                  <a:srgbClr val="0F06CA"/>
                </a:solidFill>
              </a:rPr>
              <a:t>This will take place on </a:t>
            </a:r>
            <a:r>
              <a:rPr lang="en-US" sz="4000" b="1" dirty="0">
                <a:solidFill>
                  <a:srgbClr val="00B050"/>
                </a:solidFill>
              </a:rPr>
              <a:t>Sunday 9</a:t>
            </a:r>
            <a:r>
              <a:rPr lang="en-US" sz="4000" b="1" baseline="30000" dirty="0">
                <a:solidFill>
                  <a:srgbClr val="00B050"/>
                </a:solidFill>
              </a:rPr>
              <a:t>th</a:t>
            </a:r>
            <a:r>
              <a:rPr lang="en-US" sz="4000" b="1" dirty="0">
                <a:solidFill>
                  <a:srgbClr val="00B050"/>
                </a:solidFill>
              </a:rPr>
              <a:t> November, 2025</a:t>
            </a:r>
            <a:r>
              <a:rPr lang="en-US" sz="4000" dirty="0">
                <a:solidFill>
                  <a:srgbClr val="0F06CA"/>
                </a:solidFill>
              </a:rPr>
              <a:t>. Each church is required to choose delegates as per the attached letter. Lets pray for the exercise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9BF7765-F74E-382B-32BF-4C0E2F2DF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6389" y="6492875"/>
            <a:ext cx="10940143" cy="365125"/>
          </a:xfrm>
        </p:spPr>
        <p:txBody>
          <a:bodyPr/>
          <a:lstStyle/>
          <a:p>
            <a:r>
              <a:rPr lang="en-US" sz="1800" b="1" dirty="0">
                <a:solidFill>
                  <a:srgbClr val="FF0000"/>
                </a:solidFill>
              </a:rPr>
              <a:t>PAYMENT DETAILS: PAYBILL 400222, ACC NO: 441211#NARRATION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116667C-08D2-92BF-9724-76101C34E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84FB-B183-4959-9773-ABA121BF585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29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2C78F15-1294-D2C9-4D46-9E343168E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43" y="137160"/>
            <a:ext cx="11996057" cy="6637451"/>
          </a:xfrm>
          <a:blipFill>
            <a:blip r:embed="rId2">
              <a:alphaModFix amt="20000"/>
            </a:blip>
            <a:stretch>
              <a:fillRect/>
            </a:stretch>
          </a:blipFill>
        </p:spPr>
        <p:txBody>
          <a:bodyPr>
            <a:normAutofit fontScale="32500" lnSpcReduction="20000"/>
          </a:bodyPr>
          <a:lstStyle/>
          <a:p>
            <a:pPr marL="0" lvl="0" indent="0" algn="just">
              <a:buNone/>
            </a:pPr>
            <a:r>
              <a:rPr lang="en-US" sz="12300" b="1" dirty="0">
                <a:solidFill>
                  <a:srgbClr val="0F06CA"/>
                </a:solidFill>
              </a:rPr>
              <a:t>5. DISTRICT AYS SABBATH ON 22ND NOVEMBER, 2025</a:t>
            </a:r>
            <a:endParaRPr lang="en-US" sz="12300" dirty="0">
              <a:solidFill>
                <a:srgbClr val="0F06CA"/>
              </a:solidFill>
            </a:endParaRPr>
          </a:p>
          <a:p>
            <a:pPr algn="just"/>
            <a:r>
              <a:rPr lang="en-US" sz="12300" dirty="0">
                <a:solidFill>
                  <a:srgbClr val="0F06CA"/>
                </a:solidFill>
              </a:rPr>
              <a:t>Our District Youths will be having their </a:t>
            </a:r>
            <a:r>
              <a:rPr lang="en-US" sz="12300" b="1" dirty="0">
                <a:solidFill>
                  <a:srgbClr val="00B050"/>
                </a:solidFill>
              </a:rPr>
              <a:t>District Sabbath</a:t>
            </a:r>
            <a:r>
              <a:rPr lang="en-US" sz="12300" dirty="0">
                <a:solidFill>
                  <a:srgbClr val="0F06CA"/>
                </a:solidFill>
              </a:rPr>
              <a:t> on </a:t>
            </a:r>
            <a:r>
              <a:rPr lang="en-US" sz="12300" b="1" dirty="0">
                <a:solidFill>
                  <a:srgbClr val="00B050"/>
                </a:solidFill>
              </a:rPr>
              <a:t>22</a:t>
            </a:r>
            <a:r>
              <a:rPr lang="en-US" sz="12300" b="1" baseline="30000" dirty="0">
                <a:solidFill>
                  <a:srgbClr val="00B050"/>
                </a:solidFill>
              </a:rPr>
              <a:t>nd</a:t>
            </a:r>
            <a:r>
              <a:rPr lang="en-US" sz="12300" b="1" dirty="0">
                <a:solidFill>
                  <a:srgbClr val="00B050"/>
                </a:solidFill>
              </a:rPr>
              <a:t> November 2025 </a:t>
            </a:r>
            <a:r>
              <a:rPr lang="en-US" sz="12300" dirty="0">
                <a:solidFill>
                  <a:srgbClr val="0F06CA"/>
                </a:solidFill>
              </a:rPr>
              <a:t>at </a:t>
            </a:r>
            <a:r>
              <a:rPr lang="en-US" sz="12300" b="1" dirty="0">
                <a:solidFill>
                  <a:srgbClr val="00B050"/>
                </a:solidFill>
              </a:rPr>
              <a:t>Kahawa Sukari SDA Church</a:t>
            </a:r>
            <a:r>
              <a:rPr lang="en-US" sz="12300" dirty="0">
                <a:solidFill>
                  <a:srgbClr val="0F06CA"/>
                </a:solidFill>
              </a:rPr>
              <a:t>. This will be followed by </a:t>
            </a:r>
            <a:r>
              <a:rPr lang="en-US" sz="12300" b="1" dirty="0">
                <a:solidFill>
                  <a:srgbClr val="00B050"/>
                </a:solidFill>
              </a:rPr>
              <a:t>District AYS Social Sunday </a:t>
            </a:r>
            <a:r>
              <a:rPr lang="en-US" sz="12300" dirty="0">
                <a:solidFill>
                  <a:srgbClr val="0F06CA"/>
                </a:solidFill>
              </a:rPr>
              <a:t>the following day. </a:t>
            </a:r>
          </a:p>
          <a:p>
            <a:pPr marL="0" indent="0" algn="just">
              <a:buNone/>
            </a:pPr>
            <a:endParaRPr lang="en-US" sz="8600" dirty="0">
              <a:solidFill>
                <a:srgbClr val="0F06CA"/>
              </a:solidFill>
            </a:endParaRPr>
          </a:p>
          <a:p>
            <a:pPr marL="0" lvl="0" indent="0" algn="just">
              <a:buNone/>
            </a:pPr>
            <a:r>
              <a:rPr lang="en-US" sz="12300" b="1" dirty="0">
                <a:solidFill>
                  <a:srgbClr val="0F06CA"/>
                </a:solidFill>
              </a:rPr>
              <a:t>6. ENF WOMEN’S MINISTRY CONGRESS 8TH TO 14TH DECEMBER, 2025</a:t>
            </a:r>
            <a:endParaRPr lang="en-US" sz="12300" dirty="0">
              <a:solidFill>
                <a:srgbClr val="0F06CA"/>
              </a:solidFill>
            </a:endParaRPr>
          </a:p>
          <a:p>
            <a:pPr algn="just"/>
            <a:r>
              <a:rPr lang="en-US" sz="12300" dirty="0">
                <a:solidFill>
                  <a:srgbClr val="0F06CA"/>
                </a:solidFill>
              </a:rPr>
              <a:t>There will be </a:t>
            </a:r>
            <a:r>
              <a:rPr lang="en-US" sz="12300" b="1" dirty="0">
                <a:solidFill>
                  <a:srgbClr val="00B050"/>
                </a:solidFill>
              </a:rPr>
              <a:t>ENF Women’s Ministry Congress </a:t>
            </a:r>
            <a:r>
              <a:rPr lang="en-US" sz="12300" dirty="0">
                <a:solidFill>
                  <a:srgbClr val="0F06CA"/>
                </a:solidFill>
              </a:rPr>
              <a:t>at </a:t>
            </a:r>
            <a:r>
              <a:rPr lang="en-US" sz="12300" b="1" dirty="0" err="1">
                <a:solidFill>
                  <a:srgbClr val="00B050"/>
                </a:solidFill>
              </a:rPr>
              <a:t>Huruma</a:t>
            </a:r>
            <a:r>
              <a:rPr lang="en-US" sz="12300" b="1" dirty="0">
                <a:solidFill>
                  <a:srgbClr val="00B050"/>
                </a:solidFill>
              </a:rPr>
              <a:t> Girls High School </a:t>
            </a:r>
            <a:r>
              <a:rPr lang="en-US" sz="12300" dirty="0">
                <a:solidFill>
                  <a:srgbClr val="0F06CA"/>
                </a:solidFill>
              </a:rPr>
              <a:t>from </a:t>
            </a:r>
            <a:r>
              <a:rPr lang="en-US" sz="12300" b="1" dirty="0">
                <a:solidFill>
                  <a:srgbClr val="00B050"/>
                </a:solidFill>
              </a:rPr>
              <a:t>8</a:t>
            </a:r>
            <a:r>
              <a:rPr lang="en-US" sz="12300" b="1" baseline="30000" dirty="0">
                <a:solidFill>
                  <a:srgbClr val="00B050"/>
                </a:solidFill>
              </a:rPr>
              <a:t>th</a:t>
            </a:r>
            <a:r>
              <a:rPr lang="en-US" sz="12300" b="1" dirty="0">
                <a:solidFill>
                  <a:srgbClr val="00B050"/>
                </a:solidFill>
              </a:rPr>
              <a:t> -14</a:t>
            </a:r>
            <a:r>
              <a:rPr lang="en-US" sz="12300" b="1" baseline="30000" dirty="0">
                <a:solidFill>
                  <a:srgbClr val="00B050"/>
                </a:solidFill>
              </a:rPr>
              <a:t>th</a:t>
            </a:r>
            <a:r>
              <a:rPr lang="en-US" sz="12300" b="1" dirty="0">
                <a:solidFill>
                  <a:srgbClr val="00B050"/>
                </a:solidFill>
              </a:rPr>
              <a:t> December 2025</a:t>
            </a:r>
            <a:r>
              <a:rPr lang="en-US" sz="12300" dirty="0">
                <a:solidFill>
                  <a:srgbClr val="0F06CA"/>
                </a:solidFill>
              </a:rPr>
              <a:t> under the </a:t>
            </a:r>
            <a:r>
              <a:rPr lang="en-US" sz="12300" b="1" dirty="0">
                <a:solidFill>
                  <a:srgbClr val="FF0000"/>
                </a:solidFill>
              </a:rPr>
              <a:t>THEME:</a:t>
            </a:r>
            <a:r>
              <a:rPr lang="en-US" sz="12300" dirty="0">
                <a:solidFill>
                  <a:srgbClr val="FF0000"/>
                </a:solidFill>
              </a:rPr>
              <a:t> “</a:t>
            </a:r>
            <a:r>
              <a:rPr lang="en-US" sz="12300" b="1" dirty="0">
                <a:solidFill>
                  <a:srgbClr val="FF0000"/>
                </a:solidFill>
              </a:rPr>
              <a:t>Chosen for Such a Time as This (Esther 4:14)</a:t>
            </a:r>
            <a:r>
              <a:rPr lang="en-US" sz="12300" dirty="0">
                <a:solidFill>
                  <a:srgbClr val="FF0000"/>
                </a:solidFill>
              </a:rPr>
              <a:t>.” </a:t>
            </a:r>
            <a:r>
              <a:rPr lang="en-US" sz="12300" b="1" dirty="0">
                <a:solidFill>
                  <a:srgbClr val="0F06CA"/>
                </a:solidFill>
              </a:rPr>
              <a:t>Registration fees is KES 4,600/- for boarders and KES 3,600/- for </a:t>
            </a:r>
            <a:r>
              <a:rPr lang="en-US" sz="12300" b="1" dirty="0" err="1">
                <a:solidFill>
                  <a:srgbClr val="0F06CA"/>
                </a:solidFill>
              </a:rPr>
              <a:t>dayscholars</a:t>
            </a:r>
            <a:endParaRPr lang="en-US" sz="12300" b="1" dirty="0">
              <a:solidFill>
                <a:srgbClr val="0F06CA"/>
              </a:solidFill>
            </a:endParaRPr>
          </a:p>
          <a:p>
            <a:pPr marL="0" indent="0" algn="just">
              <a:buNone/>
            </a:pPr>
            <a:endParaRPr lang="en-US" dirty="0">
              <a:solidFill>
                <a:srgbClr val="0F06CA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2544E6D-396D-7BC5-51B6-1951E1331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943" y="7739744"/>
            <a:ext cx="10829108" cy="365125"/>
          </a:xfrm>
        </p:spPr>
        <p:txBody>
          <a:bodyPr/>
          <a:lstStyle/>
          <a:p>
            <a:r>
              <a:rPr lang="en-US" sz="1800" b="1" dirty="0">
                <a:solidFill>
                  <a:srgbClr val="FF0000"/>
                </a:solidFill>
              </a:rPr>
              <a:t>PAYMENT DETAILS: PAYBILL 400222, ACC NO: 441211#NARRATION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8CC2006-A234-7173-4485-27D5119AE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9167" y="7675065"/>
            <a:ext cx="2743200" cy="365125"/>
          </a:xfrm>
        </p:spPr>
        <p:txBody>
          <a:bodyPr/>
          <a:lstStyle/>
          <a:p>
            <a:fld id="{452784FB-B183-4959-9773-ABA121BF585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050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E43A4C-842B-45EB-C9C4-A3EAFC938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753" y="189410"/>
            <a:ext cx="11834949" cy="6485709"/>
          </a:xfrm>
          <a:blipFill>
            <a:blip r:embed="rId2">
              <a:alphaModFix amt="20000"/>
            </a:blip>
            <a:stretch>
              <a:fillRect/>
            </a:stretch>
          </a:blipFill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US" sz="6600" b="1" dirty="0">
                <a:solidFill>
                  <a:srgbClr val="0F06CA"/>
                </a:solidFill>
              </a:rPr>
              <a:t>7. DISTRICT AYS YOUTH MISSION/CRUSADE</a:t>
            </a:r>
            <a:endParaRPr lang="en-US" sz="6600" dirty="0">
              <a:solidFill>
                <a:srgbClr val="0F06CA"/>
              </a:solidFill>
            </a:endParaRPr>
          </a:p>
          <a:p>
            <a:pPr algn="just"/>
            <a:r>
              <a:rPr lang="en-US" sz="5400" dirty="0">
                <a:solidFill>
                  <a:srgbClr val="0F06CA"/>
                </a:solidFill>
              </a:rPr>
              <a:t>Our District AYS is planning for a mission at </a:t>
            </a:r>
            <a:r>
              <a:rPr lang="en-US" sz="5400" b="1" dirty="0" err="1">
                <a:solidFill>
                  <a:srgbClr val="00B050"/>
                </a:solidFill>
              </a:rPr>
              <a:t>Mukurweini</a:t>
            </a:r>
            <a:r>
              <a:rPr lang="en-US" sz="5400" b="1" dirty="0">
                <a:solidFill>
                  <a:srgbClr val="00B050"/>
                </a:solidFill>
              </a:rPr>
              <a:t> in Nyeri County </a:t>
            </a:r>
            <a:r>
              <a:rPr lang="en-US" sz="5400" dirty="0">
                <a:solidFill>
                  <a:srgbClr val="0F06CA"/>
                </a:solidFill>
              </a:rPr>
              <a:t>from </a:t>
            </a:r>
            <a:r>
              <a:rPr lang="en-US" sz="5400" b="1" dirty="0">
                <a:solidFill>
                  <a:srgbClr val="00B050"/>
                </a:solidFill>
              </a:rPr>
              <a:t>14</a:t>
            </a:r>
            <a:r>
              <a:rPr lang="en-US" sz="5400" b="1" baseline="30000" dirty="0">
                <a:solidFill>
                  <a:srgbClr val="00B050"/>
                </a:solidFill>
              </a:rPr>
              <a:t>th</a:t>
            </a:r>
            <a:r>
              <a:rPr lang="en-US" sz="5400" b="1" dirty="0">
                <a:solidFill>
                  <a:srgbClr val="00B050"/>
                </a:solidFill>
              </a:rPr>
              <a:t> – 27</a:t>
            </a:r>
            <a:r>
              <a:rPr lang="en-US" sz="5400" b="1" baseline="30000" dirty="0">
                <a:solidFill>
                  <a:srgbClr val="00B050"/>
                </a:solidFill>
              </a:rPr>
              <a:t>th</a:t>
            </a:r>
            <a:r>
              <a:rPr lang="en-US" sz="5400" b="1" dirty="0">
                <a:solidFill>
                  <a:srgbClr val="00B050"/>
                </a:solidFill>
              </a:rPr>
              <a:t> December, 2025. </a:t>
            </a:r>
            <a:r>
              <a:rPr lang="en-US" sz="5400" dirty="0">
                <a:solidFill>
                  <a:srgbClr val="0F06CA"/>
                </a:solidFill>
              </a:rPr>
              <a:t>Let’s remember our youths in prayer as they prepare for the same. All youths to note and prepare accordingly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195A7E6-5BEB-8238-8345-367C4D5FB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3" y="6774361"/>
            <a:ext cx="11547567" cy="365125"/>
          </a:xfrm>
        </p:spPr>
        <p:txBody>
          <a:bodyPr/>
          <a:lstStyle/>
          <a:p>
            <a:r>
              <a:rPr lang="en-US" sz="1600" b="1" dirty="0">
                <a:solidFill>
                  <a:srgbClr val="FF0000"/>
                </a:solidFill>
              </a:rPr>
              <a:t>PAYMENT DETAILS: PAYBILL 400222, ACC NO: 441211#NARRATION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C78C9CA-AEF3-FFF9-FF59-9225EA25B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5771" y="6774361"/>
            <a:ext cx="2743200" cy="365125"/>
          </a:xfrm>
        </p:spPr>
        <p:txBody>
          <a:bodyPr/>
          <a:lstStyle/>
          <a:p>
            <a:fld id="{452784FB-B183-4959-9773-ABA121BF585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769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2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4259EDEB-329E-A1A7-FEC6-FEB5BD9C9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846" y="1122362"/>
            <a:ext cx="12120154" cy="2479675"/>
          </a:xfrm>
        </p:spPr>
        <p:txBody>
          <a:bodyPr/>
          <a:lstStyle/>
          <a:p>
            <a:r>
              <a:rPr lang="en-US" b="1" dirty="0">
                <a:solidFill>
                  <a:srgbClr val="0F06CA"/>
                </a:solidFill>
              </a:rPr>
              <a:t>END OF ANNOUNCEMENTS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8D8F82D2-E797-AC81-2F60-AEDE054BF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45" y="3602038"/>
            <a:ext cx="12057017" cy="1655762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sz="6500" b="1" dirty="0">
                <a:solidFill>
                  <a:srgbClr val="0F06CA"/>
                </a:solidFill>
              </a:rPr>
              <a:t>HAPPY BLESSED SABBATH</a:t>
            </a:r>
          </a:p>
        </p:txBody>
      </p:sp>
    </p:spTree>
    <p:extLst>
      <p:ext uri="{BB962C8B-B14F-4D97-AF65-F5344CB8AC3E}">
        <p14:creationId xmlns:p14="http://schemas.microsoft.com/office/powerpoint/2010/main" val="3119655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932</Words>
  <Application>Microsoft Macintosh PowerPoint</Application>
  <PresentationFormat>Widescreen</PresentationFormat>
  <Paragraphs>90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 Rounded MT Bold</vt:lpstr>
      <vt:lpstr>Lucida Handwriting</vt:lpstr>
      <vt:lpstr>Segoe UI Black</vt:lpstr>
      <vt:lpstr>Times New Roman</vt:lpstr>
      <vt:lpstr>Arial</vt:lpstr>
      <vt:lpstr>Office Theme</vt:lpstr>
      <vt:lpstr>PowerPoint Presentation</vt:lpstr>
      <vt:lpstr>SABBATH FACILITATORS</vt:lpstr>
      <vt:lpstr>1. DEPARTMENTAL COUNCILS AND MEETINGS</vt:lpstr>
      <vt:lpstr>2. AMBASSADORS’ AUDIO 4 LAUNCH</vt:lpstr>
      <vt:lpstr>3. PRAYER NEEDS FOR THE CHURCH</vt:lpstr>
      <vt:lpstr>4. NOTICE OF BEREAVEMENT</vt:lpstr>
      <vt:lpstr>5. MID WEEK SERVICE AND FRIDAY VESPERS</vt:lpstr>
      <vt:lpstr>6. ELDER ON DUTY FOR THE WEEK</vt:lpstr>
      <vt:lpstr>7. UPCOMING CLUB EVENTS FOR PFs &amp; ADVs</vt:lpstr>
      <vt:lpstr>DISTRICT ANNOUNCEMENTS</vt:lpstr>
      <vt:lpstr>PowerPoint Presentation</vt:lpstr>
      <vt:lpstr>PowerPoint Presentation</vt:lpstr>
      <vt:lpstr>PowerPoint Presentation</vt:lpstr>
      <vt:lpstr>PowerPoint Presentation</vt:lpstr>
      <vt:lpstr>END OF ANNOUNCEMENTS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cleo omete</cp:lastModifiedBy>
  <cp:revision>18</cp:revision>
  <cp:lastPrinted>2025-10-11T04:18:36Z</cp:lastPrinted>
  <dcterms:created xsi:type="dcterms:W3CDTF">2025-10-03T16:50:27Z</dcterms:created>
  <dcterms:modified xsi:type="dcterms:W3CDTF">2025-10-11T04:21:06Z</dcterms:modified>
</cp:coreProperties>
</file>